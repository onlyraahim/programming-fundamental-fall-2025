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media/image3.svg" ContentType="image/svg+xml"/>
  <Override PartName="/ppt/media/image5.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8288000" cy="10287000"/>
  <p:notesSz cx="6858000" cy="9144000"/>
  <p:embeddedFontLst>
    <p:embeddedFont>
      <p:font typeface="Helvetica World" panose="020B0500040000020004" charset="-122"/>
      <p:regular r:id="rId20"/>
    </p:embeddedFont>
    <p:embeddedFont>
      <p:font typeface="Georgia Pro Condensed" panose="02040506050405020303"/>
      <p:regular r:id="rId21"/>
    </p:embeddedFont>
    <p:embeddedFont>
      <p:font typeface="Helvetica World Bold" panose="020B0800040000020004" charset="-122"/>
      <p:bold r:id="rId22"/>
    </p:embeddedFont>
    <p:embeddedFont>
      <p:font typeface="Calibri" panose="020F050202020403020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font" Target="fonts/font7.fntdata"/><Relationship Id="rId25" Type="http://schemas.openxmlformats.org/officeDocument/2006/relationships/font" Target="fonts/font6.fntdata"/><Relationship Id="rId24" Type="http://schemas.openxmlformats.org/officeDocument/2006/relationships/font" Target="fonts/font5.fntdata"/><Relationship Id="rId23" Type="http://schemas.openxmlformats.org/officeDocument/2006/relationships/font" Target="fonts/font4.fntdata"/><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sv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sv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sv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sv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sv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sv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73C75"/>
        </a:solidFill>
        <a:effectLst/>
      </p:bgPr>
    </p:bg>
    <p:spTree>
      <p:nvGrpSpPr>
        <p:cNvPr id="1" name=""/>
        <p:cNvGrpSpPr/>
        <p:nvPr/>
      </p:nvGrpSpPr>
      <p:grpSpPr>
        <a:xfrm>
          <a:off x="0" y="0"/>
          <a:ext cx="0" cy="0"/>
          <a:chOff x="0" y="0"/>
          <a:chExt cx="0" cy="0"/>
        </a:xfrm>
      </p:grpSpPr>
      <p:grpSp>
        <p:nvGrpSpPr>
          <p:cNvPr id="2" name="Group 2"/>
          <p:cNvGrpSpPr/>
          <p:nvPr/>
        </p:nvGrpSpPr>
        <p:grpSpPr>
          <a:xfrm rot="0">
            <a:off x="0" y="-12700"/>
            <a:ext cx="11201400" cy="10299700"/>
            <a:chOff x="0" y="0"/>
            <a:chExt cx="963348" cy="885799"/>
          </a:xfrm>
        </p:grpSpPr>
        <p:sp>
          <p:nvSpPr>
            <p:cNvPr id="3" name="Freeform 3"/>
            <p:cNvSpPr/>
            <p:nvPr/>
          </p:nvSpPr>
          <p:spPr>
            <a:xfrm>
              <a:off x="0" y="0"/>
              <a:ext cx="963348" cy="885799"/>
            </a:xfrm>
            <a:custGeom>
              <a:avLst/>
              <a:gdLst/>
              <a:ahLst/>
              <a:cxnLst/>
              <a:rect l="l" t="t" r="r" b="b"/>
              <a:pathLst>
                <a:path w="963348" h="885799">
                  <a:moveTo>
                    <a:pt x="0" y="0"/>
                  </a:moveTo>
                  <a:lnTo>
                    <a:pt x="963348" y="0"/>
                  </a:lnTo>
                  <a:lnTo>
                    <a:pt x="963348" y="885799"/>
                  </a:lnTo>
                  <a:lnTo>
                    <a:pt x="0" y="885799"/>
                  </a:lnTo>
                  <a:close/>
                </a:path>
              </a:pathLst>
            </a:custGeom>
            <a:solidFill>
              <a:srgbClr val="192A56"/>
            </a:solidFill>
            <a:ln w="12700">
              <a:solidFill>
                <a:srgbClr val="000000"/>
              </a:solidFill>
            </a:ln>
          </p:spPr>
        </p:sp>
      </p:grpSp>
      <p:grpSp>
        <p:nvGrpSpPr>
          <p:cNvPr id="4" name="Group 4"/>
          <p:cNvGrpSpPr/>
          <p:nvPr/>
        </p:nvGrpSpPr>
        <p:grpSpPr>
          <a:xfrm rot="0">
            <a:off x="11868150" y="666750"/>
            <a:ext cx="5753100" cy="8953500"/>
            <a:chOff x="0" y="0"/>
            <a:chExt cx="814724" cy="1267949"/>
          </a:xfrm>
        </p:grpSpPr>
        <p:sp>
          <p:nvSpPr>
            <p:cNvPr id="5" name="Freeform 5"/>
            <p:cNvSpPr/>
            <p:nvPr/>
          </p:nvSpPr>
          <p:spPr>
            <a:xfrm>
              <a:off x="0" y="0"/>
              <a:ext cx="814724" cy="1267949"/>
            </a:xfrm>
            <a:custGeom>
              <a:avLst/>
              <a:gdLst/>
              <a:ahLst/>
              <a:cxnLst/>
              <a:rect l="l" t="t" r="r" b="b"/>
              <a:pathLst>
                <a:path w="814724" h="1267949">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1"/>
              <a:stretch>
                <a:fillRect t="-199" b="-199"/>
              </a:stretch>
            </a:blipFill>
          </p:spPr>
        </p:sp>
      </p:grpSp>
      <p:sp>
        <p:nvSpPr>
          <p:cNvPr id="6" name="TextBox 6"/>
          <p:cNvSpPr txBox="1"/>
          <p:nvPr/>
        </p:nvSpPr>
        <p:spPr>
          <a:xfrm>
            <a:off x="304800" y="7277100"/>
            <a:ext cx="9002395" cy="1266825"/>
          </a:xfrm>
          <a:prstGeom prst="rect">
            <a:avLst/>
          </a:prstGeom>
        </p:spPr>
        <p:txBody>
          <a:bodyPr wrap="square" lIns="0" tIns="0" rIns="0" bIns="0" rtlCol="0" anchor="t">
            <a:spAutoFit/>
          </a:bodyPr>
          <a:lstStyle/>
          <a:p>
            <a:pPr marL="0" lvl="0" indent="0" algn="ctr">
              <a:lnSpc>
                <a:spcPts val="4940"/>
              </a:lnSpc>
            </a:pPr>
            <a:r>
              <a:rPr lang="en-US" sz="3800" u="none" strike="noStrike" spc="-57">
                <a:solidFill>
                  <a:srgbClr val="F5F6FA"/>
                </a:solidFill>
                <a:latin typeface="Times New Roman" panose="02020603050405020304" charset="0"/>
                <a:ea typeface="Helvetica World" panose="020B0500040000020004" charset="-122"/>
                <a:cs typeface="Times New Roman" panose="02020603050405020304" charset="0"/>
                <a:sym typeface="Helvetica World" panose="020B0500040000020004" charset="-122"/>
              </a:rPr>
              <a:t>Presented by [Syed Raahim Ali (CT-25191 &amp; Faizan Khan (CT-25195)]</a:t>
            </a:r>
            <a:endParaRPr lang="en-US" sz="3800" u="none" strike="noStrike" spc="-57">
              <a:solidFill>
                <a:srgbClr val="F5F6FA"/>
              </a:solidFill>
              <a:latin typeface="Times New Roman" panose="02020603050405020304" charset="0"/>
              <a:ea typeface="Helvetica World" panose="020B0500040000020004" charset="-122"/>
              <a:cs typeface="Times New Roman" panose="02020603050405020304" charset="0"/>
              <a:sym typeface="Helvetica World" panose="020B0500040000020004" charset="-122"/>
            </a:endParaRPr>
          </a:p>
        </p:txBody>
      </p:sp>
      <p:sp>
        <p:nvSpPr>
          <p:cNvPr id="7" name="TextBox 7"/>
          <p:cNvSpPr txBox="1"/>
          <p:nvPr/>
        </p:nvSpPr>
        <p:spPr>
          <a:xfrm>
            <a:off x="675380" y="975068"/>
            <a:ext cx="9754495" cy="5753100"/>
          </a:xfrm>
          <a:prstGeom prst="rect">
            <a:avLst/>
          </a:prstGeom>
        </p:spPr>
        <p:txBody>
          <a:bodyPr lIns="0" tIns="0" rIns="0" bIns="0" rtlCol="0" anchor="t">
            <a:spAutoFit/>
          </a:bodyPr>
          <a:lstStyle/>
          <a:p>
            <a:pPr marL="0" lvl="0" indent="0" algn="l">
              <a:lnSpc>
                <a:spcPts val="14955"/>
              </a:lnSpc>
            </a:pPr>
            <a:r>
              <a:rPr lang="en-US" sz="14955" u="none" strike="noStrike" spc="-523">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Airline Reservation System in C</a:t>
            </a:r>
            <a:endParaRPr lang="en-US" sz="14955" u="none" strike="noStrike" spc="-523">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endParaRPr>
          </a:p>
        </p:txBody>
      </p:sp>
      <p:sp>
        <p:nvSpPr>
          <p:cNvPr id="8" name="Freeform 8"/>
          <p:cNvSpPr/>
          <p:nvPr/>
        </p:nvSpPr>
        <p:spPr>
          <a:xfrm rot="-3117037">
            <a:off x="8947742" y="7656091"/>
            <a:ext cx="2112604" cy="1859092"/>
          </a:xfrm>
          <a:custGeom>
            <a:avLst/>
            <a:gdLst/>
            <a:ahLst/>
            <a:cxnLst/>
            <a:rect l="l" t="t" r="r" b="b"/>
            <a:pathLst>
              <a:path w="2112604" h="1859092">
                <a:moveTo>
                  <a:pt x="0" y="0"/>
                </a:moveTo>
                <a:lnTo>
                  <a:pt x="2112604" y="0"/>
                </a:lnTo>
                <a:lnTo>
                  <a:pt x="2112604" y="1859091"/>
                </a:lnTo>
                <a:lnTo>
                  <a:pt x="0" y="18590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92A56"/>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2</a:t>
            </a:r>
            <a:endParaRPr lang="en-US" sz="200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p:txBody>
      </p:sp>
      <p:grpSp>
        <p:nvGrpSpPr>
          <p:cNvPr id="3" name="Group 3"/>
          <p:cNvGrpSpPr/>
          <p:nvPr/>
        </p:nvGrpSpPr>
        <p:grpSpPr>
          <a:xfrm rot="0">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42538F"/>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60"/>
                </a:lnSpc>
                <a:spcBef>
                  <a:spcPct val="0"/>
                </a:spcBef>
              </a:pPr>
            </a:p>
          </p:txBody>
        </p:sp>
      </p:grpSp>
      <p:grpSp>
        <p:nvGrpSpPr>
          <p:cNvPr id="6" name="Group 6"/>
          <p:cNvGrpSpPr/>
          <p:nvPr/>
        </p:nvGrpSpPr>
        <p:grpSpPr>
          <a:xfrm rot="0">
            <a:off x="1800225" y="1562100"/>
            <a:ext cx="12944475" cy="3619500"/>
            <a:chOff x="0" y="0"/>
            <a:chExt cx="17259300" cy="4826000"/>
          </a:xfrm>
        </p:grpSpPr>
        <p:sp>
          <p:nvSpPr>
            <p:cNvPr id="7" name="TextBox 7"/>
            <p:cNvSpPr txBox="1"/>
            <p:nvPr/>
          </p:nvSpPr>
          <p:spPr>
            <a:xfrm>
              <a:off x="0" y="-85725"/>
              <a:ext cx="17259300" cy="1702858"/>
            </a:xfrm>
            <a:prstGeom prst="rect">
              <a:avLst/>
            </a:prstGeom>
          </p:spPr>
          <p:txBody>
            <a:bodyPr lIns="0" tIns="0" rIns="0" bIns="0" rtlCol="0" anchor="t">
              <a:spAutoFit/>
            </a:bodyPr>
            <a:lstStyle/>
            <a:p>
              <a:pPr marL="0" lvl="0" indent="0" algn="l">
                <a:lnSpc>
                  <a:spcPts val="10400"/>
                </a:lnSpc>
              </a:pPr>
              <a:r>
                <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Introduction to Project</a:t>
              </a:r>
              <a:endPar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endParaRPr>
            </a:p>
          </p:txBody>
        </p:sp>
        <p:sp>
          <p:nvSpPr>
            <p:cNvPr id="8" name="TextBox 8"/>
            <p:cNvSpPr txBox="1"/>
            <p:nvPr/>
          </p:nvSpPr>
          <p:spPr>
            <a:xfrm>
              <a:off x="0" y="2187687"/>
              <a:ext cx="172593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Overview of Flight Management System</a:t>
              </a:r>
              <a:endPar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endParaRPr>
            </a:p>
          </p:txBody>
        </p:sp>
        <p:sp>
          <p:nvSpPr>
            <p:cNvPr id="9" name="TextBox 9"/>
            <p:cNvSpPr txBox="1"/>
            <p:nvPr/>
          </p:nvSpPr>
          <p:spPr>
            <a:xfrm>
              <a:off x="0" y="3059641"/>
              <a:ext cx="13512134" cy="1766359"/>
            </a:xfrm>
            <a:prstGeom prst="rect">
              <a:avLst/>
            </a:prstGeom>
          </p:spPr>
          <p:txBody>
            <a:bodyPr lIns="0" tIns="0" rIns="0" bIns="0" rtlCol="0" anchor="t">
              <a:spAutoFit/>
            </a:bodyPr>
            <a:lstStyle/>
            <a:p>
              <a:pPr marL="0" lvl="0" indent="0" algn="l">
                <a:lnSpc>
                  <a:spcPts val="3500"/>
                </a:lnSpc>
              </a:pP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The </a:t>
              </a: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Airplane Management System project</a:t>
              </a: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 aims to develop a simple flight management solution in C, utilizing arrays and a menu-driven interface to effectively manage flight data for introductory programming.</a:t>
              </a:r>
              <a:endPar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p:txBody>
        </p:sp>
      </p:grpSp>
      <p:sp>
        <p:nvSpPr>
          <p:cNvPr id="10" name="Freeform 10"/>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1">
              <a:extLst>
                <a:ext uri="{96DAC541-7B7A-43D3-8B79-37D633B846F1}">
                  <asvg:svgBlip xmlns:asvg="http://schemas.microsoft.com/office/drawing/2016/SVG/main" r:embed="rId2"/>
                </a:ext>
              </a:extLst>
            </a:blip>
            <a:stretch>
              <a:fillRect/>
            </a:stretch>
          </a:blipFill>
          <a:ln cap="sq">
            <a:noFill/>
            <a:prstDash val="solid"/>
            <a:miter/>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73C75"/>
        </a:solidFill>
        <a:effectLst/>
      </p:bgPr>
    </p:bg>
    <p:spTree>
      <p:nvGrpSpPr>
        <p:cNvPr id="1" name=""/>
        <p:cNvGrpSpPr/>
        <p:nvPr/>
      </p:nvGrpSpPr>
      <p:grpSpPr>
        <a:xfrm>
          <a:off x="0" y="0"/>
          <a:ext cx="0" cy="0"/>
          <a:chOff x="0" y="0"/>
          <a:chExt cx="0" cy="0"/>
        </a:xfrm>
      </p:grpSpPr>
      <p:sp>
        <p:nvSpPr>
          <p:cNvPr id="2" name="TextBox 2"/>
          <p:cNvSpPr txBox="1"/>
          <p:nvPr/>
        </p:nvSpPr>
        <p:spPr>
          <a:xfrm>
            <a:off x="666750" y="5599430"/>
            <a:ext cx="6886575" cy="3927475"/>
          </a:xfrm>
          <a:prstGeom prst="rect">
            <a:avLst/>
          </a:prstGeom>
        </p:spPr>
        <p:txBody>
          <a:bodyPr lIns="0" tIns="0" rIns="0" bIns="0" rtlCol="0" anchor="t">
            <a:spAutoFit/>
          </a:bodyPr>
          <a:lstStyle/>
          <a:p>
            <a:pPr marL="539750" lvl="1" indent="-269875" algn="l">
              <a:lnSpc>
                <a:spcPts val="3500"/>
              </a:lnSpc>
              <a:buFont typeface="Arial" panose="020B0604020202020204"/>
              <a:buChar char="•"/>
            </a:pPr>
            <a:r>
              <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Flight numbers stored in an integer array format</a:t>
            </a:r>
            <a:endPar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a:p>
            <a:pPr marL="539750" lvl="1" indent="-269875" algn="l">
              <a:lnSpc>
                <a:spcPts val="3500"/>
              </a:lnSpc>
              <a:buFont typeface="Arial" panose="020B0604020202020204"/>
              <a:buChar char="•"/>
            </a:pPr>
            <a:r>
              <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Destination codes mapped to specific cities for clarity</a:t>
            </a:r>
            <a:endPar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a:p>
            <a:pPr marL="539750" lvl="1" indent="-269875" algn="l">
              <a:lnSpc>
                <a:spcPts val="3500"/>
              </a:lnSpc>
              <a:buFont typeface="Arial" panose="020B0604020202020204"/>
              <a:buChar char="•"/>
            </a:pPr>
            <a:r>
              <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Departure times represented in a simple integer format</a:t>
            </a:r>
            <a:endPar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a:p>
            <a:pPr marL="539750" lvl="1" indent="-269875" algn="l">
              <a:lnSpc>
                <a:spcPts val="3500"/>
              </a:lnSpc>
              <a:buFont typeface="Arial" panose="020B0604020202020204"/>
              <a:buChar char="•"/>
            </a:pPr>
            <a:r>
              <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MAX flights constant defines the system's capacity limit</a:t>
            </a:r>
            <a:endPar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a:p>
            <a:pPr marL="539750" lvl="1" indent="-269875" algn="l">
              <a:lnSpc>
                <a:spcPts val="3500"/>
              </a:lnSpc>
              <a:buFont typeface="Arial" panose="020B0604020202020204"/>
              <a:buChar char="•"/>
            </a:pPr>
            <a:r>
              <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Count variable tracks current number of flights stored</a:t>
            </a:r>
            <a:endPar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p:txBody>
      </p:sp>
      <p:sp>
        <p:nvSpPr>
          <p:cNvPr id="3" name="TextBox 3"/>
          <p:cNvSpPr txBox="1"/>
          <p:nvPr/>
        </p:nvSpPr>
        <p:spPr>
          <a:xfrm>
            <a:off x="666750" y="581025"/>
            <a:ext cx="6886575" cy="2613025"/>
          </a:xfrm>
          <a:prstGeom prst="rect">
            <a:avLst/>
          </a:prstGeom>
        </p:spPr>
        <p:txBody>
          <a:bodyPr lIns="0" tIns="0" rIns="0" bIns="0" rtlCol="0" anchor="t">
            <a:spAutoFit/>
          </a:bodyPr>
          <a:lstStyle/>
          <a:p>
            <a:pPr marL="0" lvl="0" indent="0" algn="l">
              <a:lnSpc>
                <a:spcPts val="10400"/>
              </a:lnSpc>
            </a:pPr>
            <a:r>
              <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Data Storage Using Arrays</a:t>
            </a:r>
            <a:endPar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endParaRPr>
          </a:p>
        </p:txBody>
      </p:sp>
      <p:grpSp>
        <p:nvGrpSpPr>
          <p:cNvPr id="4" name="Group 4"/>
          <p:cNvGrpSpPr/>
          <p:nvPr/>
        </p:nvGrpSpPr>
        <p:grpSpPr>
          <a:xfrm rot="0">
            <a:off x="8991600" y="0"/>
            <a:ext cx="9296400" cy="10287000"/>
            <a:chOff x="0" y="0"/>
            <a:chExt cx="1220873" cy="1350966"/>
          </a:xfrm>
        </p:grpSpPr>
        <p:sp>
          <p:nvSpPr>
            <p:cNvPr id="5" name="Freeform 5"/>
            <p:cNvSpPr/>
            <p:nvPr/>
          </p:nvSpPr>
          <p:spPr>
            <a:xfrm>
              <a:off x="0" y="0"/>
              <a:ext cx="1220873" cy="1350966"/>
            </a:xfrm>
            <a:custGeom>
              <a:avLst/>
              <a:gdLst/>
              <a:ahLst/>
              <a:cxnLst/>
              <a:rect l="l" t="t" r="r" b="b"/>
              <a:pathLst>
                <a:path w="1220873" h="1350966">
                  <a:moveTo>
                    <a:pt x="0" y="0"/>
                  </a:moveTo>
                  <a:lnTo>
                    <a:pt x="1220873" y="0"/>
                  </a:lnTo>
                  <a:lnTo>
                    <a:pt x="1220873" y="1350966"/>
                  </a:lnTo>
                  <a:lnTo>
                    <a:pt x="0" y="1350966"/>
                  </a:lnTo>
                  <a:close/>
                </a:path>
              </a:pathLst>
            </a:custGeom>
            <a:blipFill>
              <a:blip r:embed="rId1"/>
              <a:stretch>
                <a:fillRect t="-66" b="-66"/>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92A56"/>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4</a:t>
            </a:r>
            <a:endParaRPr lang="en-US" sz="200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p:txBody>
      </p:sp>
      <p:grpSp>
        <p:nvGrpSpPr>
          <p:cNvPr id="3" name="Group 3"/>
          <p:cNvGrpSpPr/>
          <p:nvPr/>
        </p:nvGrpSpPr>
        <p:grpSpPr>
          <a:xfrm rot="0">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42538F"/>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60"/>
                </a:lnSpc>
              </a:pPr>
            </a:p>
          </p:txBody>
        </p:sp>
      </p:grpSp>
      <p:grpSp>
        <p:nvGrpSpPr>
          <p:cNvPr id="6" name="Group 6"/>
          <p:cNvGrpSpPr/>
          <p:nvPr/>
        </p:nvGrpSpPr>
        <p:grpSpPr>
          <a:xfrm rot="0">
            <a:off x="1800225" y="1562100"/>
            <a:ext cx="12944475" cy="3381459"/>
            <a:chOff x="0" y="0"/>
            <a:chExt cx="17259300" cy="4508612"/>
          </a:xfrm>
        </p:grpSpPr>
        <p:sp>
          <p:nvSpPr>
            <p:cNvPr id="7" name="TextBox 7"/>
            <p:cNvSpPr txBox="1"/>
            <p:nvPr/>
          </p:nvSpPr>
          <p:spPr>
            <a:xfrm>
              <a:off x="0" y="-85725"/>
              <a:ext cx="17259300" cy="3455458"/>
            </a:xfrm>
            <a:prstGeom prst="rect">
              <a:avLst/>
            </a:prstGeom>
          </p:spPr>
          <p:txBody>
            <a:bodyPr lIns="0" tIns="0" rIns="0" bIns="0" rtlCol="0" anchor="t">
              <a:spAutoFit/>
            </a:bodyPr>
            <a:lstStyle/>
            <a:p>
              <a:pPr marL="0" lvl="0" indent="0" algn="l">
                <a:lnSpc>
                  <a:spcPts val="10400"/>
                </a:lnSpc>
              </a:pPr>
              <a:r>
                <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Destination Codes and Time Representation</a:t>
              </a:r>
              <a:endPar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endParaRPr>
            </a:p>
          </p:txBody>
        </p:sp>
        <p:sp>
          <p:nvSpPr>
            <p:cNvPr id="8" name="TextBox 8"/>
            <p:cNvSpPr txBox="1"/>
            <p:nvPr/>
          </p:nvSpPr>
          <p:spPr>
            <a:xfrm>
              <a:off x="0" y="3940287"/>
              <a:ext cx="172593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Understanding Flight Destinations and Scheduling</a:t>
              </a:r>
              <a:endPar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endParaRPr>
            </a:p>
          </p:txBody>
        </p:sp>
      </p:grpSp>
      <p:sp>
        <p:nvSpPr>
          <p:cNvPr id="9" name="Freeform 9"/>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1">
              <a:extLst>
                <a:ext uri="{96DAC541-7B7A-43D3-8B79-37D633B846F1}">
                  <asvg:svgBlip xmlns:asvg="http://schemas.microsoft.com/office/drawing/2016/SVG/main" r:embed="rId2"/>
                </a:ext>
              </a:extLst>
            </a:blip>
            <a:stretch>
              <a:fillRect/>
            </a:stretch>
          </a:blipFill>
          <a:ln cap="sq">
            <a:noFill/>
            <a:prstDash val="solid"/>
            <a:miter/>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73C75"/>
        </a:solidFill>
        <a:effectLst/>
      </p:bgPr>
    </p:bg>
    <p:spTree>
      <p:nvGrpSpPr>
        <p:cNvPr id="1" name=""/>
        <p:cNvGrpSpPr/>
        <p:nvPr/>
      </p:nvGrpSpPr>
      <p:grpSpPr>
        <a:xfrm>
          <a:off x="0" y="0"/>
          <a:ext cx="0" cy="0"/>
          <a:chOff x="0" y="0"/>
          <a:chExt cx="0" cy="0"/>
        </a:xfrm>
      </p:grpSpPr>
      <p:grpSp>
        <p:nvGrpSpPr>
          <p:cNvPr id="2" name="Group 2"/>
          <p:cNvGrpSpPr/>
          <p:nvPr/>
        </p:nvGrpSpPr>
        <p:grpSpPr>
          <a:xfrm rot="0">
            <a:off x="666750" y="666750"/>
            <a:ext cx="16954500" cy="8953500"/>
            <a:chOff x="0" y="0"/>
            <a:chExt cx="4465383" cy="2358123"/>
          </a:xfrm>
        </p:grpSpPr>
        <p:sp>
          <p:nvSpPr>
            <p:cNvPr id="3" name="Freeform 3"/>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011942"/>
            </a:solidFill>
            <a:ln cap="rnd">
              <a:noFill/>
              <a:prstDash val="solid"/>
              <a:round/>
            </a:ln>
          </p:spPr>
        </p:sp>
        <p:sp>
          <p:nvSpPr>
            <p:cNvPr id="4" name="TextBox 4"/>
            <p:cNvSpPr txBox="1"/>
            <p:nvPr/>
          </p:nvSpPr>
          <p:spPr>
            <a:xfrm>
              <a:off x="0" y="-57150"/>
              <a:ext cx="4465383" cy="2415273"/>
            </a:xfrm>
            <a:prstGeom prst="rect">
              <a:avLst/>
            </a:prstGeom>
          </p:spPr>
          <p:txBody>
            <a:bodyPr lIns="50800" tIns="50800" rIns="50800" bIns="50800" rtlCol="0" anchor="ctr"/>
            <a:lstStyle/>
            <a:p>
              <a:pPr marL="0" lvl="0" indent="0" algn="ctr">
                <a:lnSpc>
                  <a:spcPts val="3360"/>
                </a:lnSpc>
              </a:pPr>
            </a:p>
          </p:txBody>
        </p:sp>
      </p:grpSp>
      <p:grpSp>
        <p:nvGrpSpPr>
          <p:cNvPr id="5" name="Group 5"/>
          <p:cNvGrpSpPr/>
          <p:nvPr/>
        </p:nvGrpSpPr>
        <p:grpSpPr>
          <a:xfrm rot="0">
            <a:off x="2105025" y="1562100"/>
            <a:ext cx="9763125" cy="4927600"/>
            <a:chOff x="0" y="0"/>
            <a:chExt cx="13017500" cy="6570133"/>
          </a:xfrm>
        </p:grpSpPr>
        <p:sp>
          <p:nvSpPr>
            <p:cNvPr id="6" name="TextBox 6"/>
            <p:cNvSpPr txBox="1"/>
            <p:nvPr/>
          </p:nvSpPr>
          <p:spPr>
            <a:xfrm>
              <a:off x="0" y="1196975"/>
              <a:ext cx="13017500" cy="5373158"/>
            </a:xfrm>
            <a:prstGeom prst="rect">
              <a:avLst/>
            </a:prstGeom>
          </p:spPr>
          <p:txBody>
            <a:bodyPr lIns="0" tIns="0" rIns="0" bIns="0" rtlCol="0" anchor="t">
              <a:spAutoFit/>
            </a:bodyPr>
            <a:lstStyle/>
            <a:p>
              <a:pPr marL="0" lvl="0" indent="0" algn="l">
                <a:lnSpc>
                  <a:spcPts val="3500"/>
                </a:lnSpc>
              </a:pP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The main menu loop is a crucial part of the Airplane Management System, enabling user interaction through a menu-driven interface. The loop utilizes a </a:t>
              </a: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while structure</a:t>
              </a: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 to continuously present options until the user chooses to exit. Input validation is essential; it ensures that user entries are both valid and safe. By using scanf for input and printf for output, the program engages users effectively. Moreover, implementing error handling provides feedback for invalid inputs, enhancing </a:t>
              </a: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user experience</a:t>
              </a: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 and stability of the system, fostering a smooth interaction throughout the application.</a:t>
              </a:r>
              <a:endPar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p:txBody>
        </p:sp>
        <p:sp>
          <p:nvSpPr>
            <p:cNvPr id="7" name="TextBox 7"/>
            <p:cNvSpPr txBox="1"/>
            <p:nvPr/>
          </p:nvSpPr>
          <p:spPr>
            <a:xfrm>
              <a:off x="0" y="-9525"/>
              <a:ext cx="13017500" cy="669925"/>
            </a:xfrm>
            <a:prstGeom prst="rect">
              <a:avLst/>
            </a:prstGeom>
          </p:spPr>
          <p:txBody>
            <a:bodyPr lIns="0" tIns="0" rIns="0" bIns="0" rtlCol="0" anchor="t">
              <a:spAutoFit/>
            </a:bodyPr>
            <a:lstStyle/>
            <a:p>
              <a:pPr marL="0" lvl="0" indent="0" algn="l">
                <a:lnSpc>
                  <a:spcPts val="3600"/>
                </a:lnSpc>
                <a:spcBef>
                  <a:spcPct val="0"/>
                </a:spcBef>
              </a:pPr>
              <a:r>
                <a:rPr lang="en-US" sz="3000" b="1" spc="-44">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Main Menu Loop and User Interaction</a:t>
              </a:r>
              <a:endParaRPr lang="en-US" sz="3000" b="1" spc="-44">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endParaRPr>
            </a:p>
          </p:txBody>
        </p:sp>
      </p:grpSp>
      <p:sp>
        <p:nvSpPr>
          <p:cNvPr id="8" name="Freeform 8"/>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92A56"/>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6</a:t>
            </a:r>
            <a:endParaRPr lang="en-US" sz="200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p:txBody>
      </p:sp>
      <p:grpSp>
        <p:nvGrpSpPr>
          <p:cNvPr id="3" name="Group 3"/>
          <p:cNvGrpSpPr/>
          <p:nvPr/>
        </p:nvGrpSpPr>
        <p:grpSpPr>
          <a:xfrm rot="0">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42538F"/>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60"/>
                </a:lnSpc>
                <a:spcBef>
                  <a:spcPct val="0"/>
                </a:spcBef>
              </a:pPr>
            </a:p>
          </p:txBody>
        </p:sp>
      </p:grpSp>
      <p:grpSp>
        <p:nvGrpSpPr>
          <p:cNvPr id="6" name="Group 6"/>
          <p:cNvGrpSpPr/>
          <p:nvPr/>
        </p:nvGrpSpPr>
        <p:grpSpPr>
          <a:xfrm rot="0">
            <a:off x="1800225" y="1562100"/>
            <a:ext cx="13249275" cy="2067009"/>
            <a:chOff x="0" y="0"/>
            <a:chExt cx="17665700" cy="2756012"/>
          </a:xfrm>
        </p:grpSpPr>
        <p:sp>
          <p:nvSpPr>
            <p:cNvPr id="7" name="TextBox 7"/>
            <p:cNvSpPr txBox="1"/>
            <p:nvPr/>
          </p:nvSpPr>
          <p:spPr>
            <a:xfrm>
              <a:off x="0" y="-85725"/>
              <a:ext cx="17665700" cy="1702858"/>
            </a:xfrm>
            <a:prstGeom prst="rect">
              <a:avLst/>
            </a:prstGeom>
          </p:spPr>
          <p:txBody>
            <a:bodyPr lIns="0" tIns="0" rIns="0" bIns="0" rtlCol="0" anchor="t">
              <a:spAutoFit/>
            </a:bodyPr>
            <a:lstStyle/>
            <a:p>
              <a:pPr marL="0" lvl="0" indent="0" algn="l">
                <a:lnSpc>
                  <a:spcPts val="10400"/>
                </a:lnSpc>
              </a:pPr>
              <a:r>
                <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Adding Flights</a:t>
              </a:r>
              <a:endPar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endParaRPr>
            </a:p>
          </p:txBody>
        </p:sp>
        <p:sp>
          <p:nvSpPr>
            <p:cNvPr id="8" name="TextBox 8"/>
            <p:cNvSpPr txBox="1"/>
            <p:nvPr/>
          </p:nvSpPr>
          <p:spPr>
            <a:xfrm>
              <a:off x="0" y="2187687"/>
              <a:ext cx="176657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Key Functionalities of the System</a:t>
              </a:r>
              <a:endPar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endParaRPr>
            </a:p>
          </p:txBody>
        </p:sp>
      </p:grpSp>
      <p:grpSp>
        <p:nvGrpSpPr>
          <p:cNvPr id="9" name="Group 9"/>
          <p:cNvGrpSpPr/>
          <p:nvPr/>
        </p:nvGrpSpPr>
        <p:grpSpPr>
          <a:xfrm rot="0">
            <a:off x="1800225" y="5143500"/>
            <a:ext cx="4308497" cy="2578100"/>
            <a:chOff x="0" y="0"/>
            <a:chExt cx="5744662" cy="3437467"/>
          </a:xfrm>
        </p:grpSpPr>
        <p:sp>
          <p:nvSpPr>
            <p:cNvPr id="10" name="TextBox 10"/>
            <p:cNvSpPr txBox="1"/>
            <p:nvPr/>
          </p:nvSpPr>
          <p:spPr>
            <a:xfrm>
              <a:off x="0" y="0"/>
              <a:ext cx="5744662" cy="533400"/>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Capacity Check</a:t>
              </a:r>
              <a:endPar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endParaRPr>
            </a:p>
          </p:txBody>
        </p:sp>
        <p:sp>
          <p:nvSpPr>
            <p:cNvPr id="11" name="TextBox 11"/>
            <p:cNvSpPr txBox="1"/>
            <p:nvPr/>
          </p:nvSpPr>
          <p:spPr>
            <a:xfrm>
              <a:off x="0" y="1060450"/>
              <a:ext cx="5744662" cy="2377017"/>
            </a:xfrm>
            <a:prstGeom prst="rect">
              <a:avLst/>
            </a:prstGeom>
          </p:spPr>
          <p:txBody>
            <a:bodyPr lIns="0" tIns="0" rIns="0" bIns="0" rtlCol="0" anchor="t">
              <a:spAutoFit/>
            </a:bodyPr>
            <a:lstStyle/>
            <a:p>
              <a:pPr marL="0" lvl="0" indent="0" algn="l">
                <a:lnSpc>
                  <a:spcPts val="2800"/>
                </a:lnSpc>
              </a:pPr>
              <a:r>
                <a:rPr lang="en-US" sz="2000" u="none" strike="noStrike" spc="-3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Before adding a flight, the system checks the </a:t>
              </a:r>
              <a:r>
                <a:rPr lang="en-US" sz="2000" b="1" u="none" strike="noStrike" spc="-30">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maximum capacity</a:t>
              </a:r>
              <a:r>
                <a:rPr lang="en-US" sz="2000" u="none" strike="noStrike" spc="-3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 to ensure no more than the allowed number of flights are entered, maintaining data integrity.</a:t>
              </a:r>
              <a:endParaRPr lang="en-US" sz="2000" u="none" strike="noStrike" spc="-3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p:txBody>
        </p:sp>
      </p:grpSp>
      <p:grpSp>
        <p:nvGrpSpPr>
          <p:cNvPr id="12" name="Group 12"/>
          <p:cNvGrpSpPr/>
          <p:nvPr/>
        </p:nvGrpSpPr>
        <p:grpSpPr>
          <a:xfrm rot="0">
            <a:off x="7291388" y="5143500"/>
            <a:ext cx="4010025" cy="2549525"/>
            <a:chOff x="0" y="0"/>
            <a:chExt cx="5346700" cy="3399367"/>
          </a:xfrm>
        </p:grpSpPr>
        <p:sp>
          <p:nvSpPr>
            <p:cNvPr id="13" name="TextBox 13"/>
            <p:cNvSpPr txBox="1"/>
            <p:nvPr/>
          </p:nvSpPr>
          <p:spPr>
            <a:xfrm>
              <a:off x="0" y="0"/>
              <a:ext cx="5346700" cy="533400"/>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Input Details</a:t>
              </a:r>
              <a:endPar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endParaRPr>
            </a:p>
          </p:txBody>
        </p:sp>
        <p:sp>
          <p:nvSpPr>
            <p:cNvPr id="14" name="TextBox 14"/>
            <p:cNvSpPr txBox="1"/>
            <p:nvPr/>
          </p:nvSpPr>
          <p:spPr>
            <a:xfrm>
              <a:off x="0" y="1060450"/>
              <a:ext cx="5346700" cy="2338917"/>
            </a:xfrm>
            <a:prstGeom prst="rect">
              <a:avLst/>
            </a:prstGeom>
          </p:spPr>
          <p:txBody>
            <a:bodyPr lIns="0" tIns="0" rIns="0" bIns="0" rtlCol="0" anchor="t">
              <a:spAutoFit/>
            </a:bodyPr>
            <a:lstStyle/>
            <a:p>
              <a:pPr marL="0" lvl="0" indent="0" algn="l">
                <a:lnSpc>
                  <a:spcPts val="2800"/>
                </a:lnSpc>
              </a:pPr>
              <a:r>
                <a:rPr lang="en-US" sz="2000" u="none" strike="noStrike" spc="-3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Users are prompted to enter specific flight details, such as flight number, destination, and departure time, ensuring comprehensive information collection for each record.</a:t>
              </a:r>
              <a:endParaRPr lang="en-US" sz="2000" u="none" strike="noStrike" spc="-3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p:txBody>
        </p:sp>
      </p:grpSp>
      <p:grpSp>
        <p:nvGrpSpPr>
          <p:cNvPr id="15" name="Group 15"/>
          <p:cNvGrpSpPr/>
          <p:nvPr/>
        </p:nvGrpSpPr>
        <p:grpSpPr>
          <a:xfrm rot="0">
            <a:off x="12172950" y="5143500"/>
            <a:ext cx="4010025" cy="2959100"/>
            <a:chOff x="0" y="0"/>
            <a:chExt cx="5346700" cy="3945467"/>
          </a:xfrm>
        </p:grpSpPr>
        <p:sp>
          <p:nvSpPr>
            <p:cNvPr id="16" name="TextBox 16"/>
            <p:cNvSpPr txBox="1"/>
            <p:nvPr/>
          </p:nvSpPr>
          <p:spPr>
            <a:xfrm>
              <a:off x="0" y="0"/>
              <a:ext cx="5346700" cy="533400"/>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Confirmation Messages</a:t>
              </a:r>
              <a:endPar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endParaRPr>
            </a:p>
          </p:txBody>
        </p:sp>
        <p:sp>
          <p:nvSpPr>
            <p:cNvPr id="17" name="TextBox 17"/>
            <p:cNvSpPr txBox="1"/>
            <p:nvPr/>
          </p:nvSpPr>
          <p:spPr>
            <a:xfrm>
              <a:off x="0" y="1060450"/>
              <a:ext cx="5346700" cy="2885017"/>
            </a:xfrm>
            <a:prstGeom prst="rect">
              <a:avLst/>
            </a:prstGeom>
          </p:spPr>
          <p:txBody>
            <a:bodyPr lIns="0" tIns="0" rIns="0" bIns="0" rtlCol="0" anchor="t">
              <a:spAutoFit/>
            </a:bodyPr>
            <a:lstStyle/>
            <a:p>
              <a:pPr marL="0" lvl="0" indent="0" algn="l">
                <a:lnSpc>
                  <a:spcPts val="2800"/>
                </a:lnSpc>
              </a:pPr>
              <a:r>
                <a:rPr lang="en-US" sz="2000" u="none" strike="noStrike" spc="-3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Upon successful addition, the system provides </a:t>
              </a:r>
              <a:r>
                <a:rPr lang="en-US" sz="2000" b="1" u="none" strike="noStrike" spc="-30">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confirmation messages</a:t>
              </a:r>
              <a:r>
                <a:rPr lang="en-US" sz="2000" u="none" strike="noStrike" spc="-3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 to the user, enhancing the user experience by indicating that the flight has been recorded successfully.</a:t>
              </a:r>
              <a:endParaRPr lang="en-US" sz="2000" u="none" strike="noStrike" spc="-3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p:txBody>
        </p:sp>
      </p:grpSp>
      <p:sp>
        <p:nvSpPr>
          <p:cNvPr id="18" name="Freeform 18"/>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1">
              <a:extLst>
                <a:ext uri="{96DAC541-7B7A-43D3-8B79-37D633B846F1}">
                  <asvg:svgBlip xmlns:asvg="http://schemas.microsoft.com/office/drawing/2016/SVG/main" r:embed="rId2"/>
                </a:ext>
              </a:extLst>
            </a:blip>
            <a:stretch>
              <a:fillRect/>
            </a:stretch>
          </a:blipFill>
          <a:ln cap="sq">
            <a:noFill/>
            <a:prstDash val="solid"/>
            <a:miter/>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73C75"/>
        </a:solidFill>
        <a:effectLst/>
      </p:bgPr>
    </p:bg>
    <p:spTree>
      <p:nvGrpSpPr>
        <p:cNvPr id="1" name=""/>
        <p:cNvGrpSpPr/>
        <p:nvPr/>
      </p:nvGrpSpPr>
      <p:grpSpPr>
        <a:xfrm>
          <a:off x="0" y="0"/>
          <a:ext cx="0" cy="0"/>
          <a:chOff x="0" y="0"/>
          <a:chExt cx="0" cy="0"/>
        </a:xfrm>
      </p:grpSpPr>
      <p:grpSp>
        <p:nvGrpSpPr>
          <p:cNvPr id="2" name="Group 2"/>
          <p:cNvGrpSpPr/>
          <p:nvPr/>
        </p:nvGrpSpPr>
        <p:grpSpPr>
          <a:xfrm rot="0">
            <a:off x="9296400" y="666750"/>
            <a:ext cx="8324850" cy="6716121"/>
            <a:chOff x="0" y="0"/>
            <a:chExt cx="1253399" cy="1011187"/>
          </a:xfrm>
        </p:grpSpPr>
        <p:sp>
          <p:nvSpPr>
            <p:cNvPr id="3" name="Freeform 3"/>
            <p:cNvSpPr/>
            <p:nvPr/>
          </p:nvSpPr>
          <p:spPr>
            <a:xfrm>
              <a:off x="0" y="0"/>
              <a:ext cx="1253399" cy="1011187"/>
            </a:xfrm>
            <a:custGeom>
              <a:avLst/>
              <a:gdLst/>
              <a:ahLst/>
              <a:cxnLst/>
              <a:rect l="l" t="t" r="r" b="b"/>
              <a:pathLst>
                <a:path w="1253399" h="1011187">
                  <a:moveTo>
                    <a:pt x="18600" y="0"/>
                  </a:moveTo>
                  <a:lnTo>
                    <a:pt x="1234799" y="0"/>
                  </a:lnTo>
                  <a:cubicBezTo>
                    <a:pt x="1239732" y="0"/>
                    <a:pt x="1244463" y="1960"/>
                    <a:pt x="1247951" y="5448"/>
                  </a:cubicBezTo>
                  <a:cubicBezTo>
                    <a:pt x="1251439" y="8936"/>
                    <a:pt x="1253399" y="13667"/>
                    <a:pt x="1253399" y="18600"/>
                  </a:cubicBezTo>
                  <a:lnTo>
                    <a:pt x="1253399" y="992587"/>
                  </a:lnTo>
                  <a:cubicBezTo>
                    <a:pt x="1253399" y="997520"/>
                    <a:pt x="1251439" y="1002251"/>
                    <a:pt x="1247951" y="1005739"/>
                  </a:cubicBezTo>
                  <a:cubicBezTo>
                    <a:pt x="1244463" y="1009227"/>
                    <a:pt x="1239732" y="1011187"/>
                    <a:pt x="1234799" y="1011187"/>
                  </a:cubicBezTo>
                  <a:lnTo>
                    <a:pt x="18600" y="1011187"/>
                  </a:lnTo>
                  <a:cubicBezTo>
                    <a:pt x="13667" y="1011187"/>
                    <a:pt x="8936" y="1009227"/>
                    <a:pt x="5448" y="1005739"/>
                  </a:cubicBezTo>
                  <a:cubicBezTo>
                    <a:pt x="1960" y="1002251"/>
                    <a:pt x="0" y="997520"/>
                    <a:pt x="0" y="992587"/>
                  </a:cubicBezTo>
                  <a:lnTo>
                    <a:pt x="0" y="18600"/>
                  </a:lnTo>
                  <a:cubicBezTo>
                    <a:pt x="0" y="13667"/>
                    <a:pt x="1960" y="8936"/>
                    <a:pt x="5448" y="5448"/>
                  </a:cubicBezTo>
                  <a:cubicBezTo>
                    <a:pt x="8936" y="1960"/>
                    <a:pt x="13667" y="0"/>
                    <a:pt x="18600" y="0"/>
                  </a:cubicBezTo>
                  <a:close/>
                </a:path>
              </a:pathLst>
            </a:custGeom>
            <a:blipFill>
              <a:blip r:embed="rId1"/>
              <a:stretch>
                <a:fillRect l="-109" r="-109"/>
              </a:stretch>
            </a:blipFill>
            <a:ln cap="sq">
              <a:noFill/>
              <a:prstDash val="solid"/>
              <a:miter/>
            </a:ln>
          </p:spPr>
        </p:sp>
      </p:grpSp>
      <p:grpSp>
        <p:nvGrpSpPr>
          <p:cNvPr id="4" name="Group 4"/>
          <p:cNvGrpSpPr/>
          <p:nvPr/>
        </p:nvGrpSpPr>
        <p:grpSpPr>
          <a:xfrm rot="0">
            <a:off x="0" y="0"/>
            <a:ext cx="7858125" cy="10287000"/>
            <a:chOff x="0" y="0"/>
            <a:chExt cx="2069630" cy="2709333"/>
          </a:xfrm>
        </p:grpSpPr>
        <p:sp>
          <p:nvSpPr>
            <p:cNvPr id="5" name="Freeform 5"/>
            <p:cNvSpPr/>
            <p:nvPr/>
          </p:nvSpPr>
          <p:spPr>
            <a:xfrm>
              <a:off x="0" y="0"/>
              <a:ext cx="2069630" cy="2709333"/>
            </a:xfrm>
            <a:custGeom>
              <a:avLst/>
              <a:gdLst/>
              <a:ahLst/>
              <a:cxnLst/>
              <a:rect l="l" t="t" r="r" b="b"/>
              <a:pathLst>
                <a:path w="2069630" h="2709333">
                  <a:moveTo>
                    <a:pt x="0" y="0"/>
                  </a:moveTo>
                  <a:lnTo>
                    <a:pt x="2069630" y="0"/>
                  </a:lnTo>
                  <a:lnTo>
                    <a:pt x="2069630" y="2709333"/>
                  </a:lnTo>
                  <a:lnTo>
                    <a:pt x="0" y="2709333"/>
                  </a:lnTo>
                  <a:close/>
                </a:path>
              </a:pathLst>
            </a:custGeom>
            <a:solidFill>
              <a:srgbClr val="40739E"/>
            </a:solidFill>
            <a:ln cap="sq">
              <a:noFill/>
              <a:prstDash val="solid"/>
              <a:miter/>
            </a:ln>
          </p:spPr>
        </p:sp>
        <p:sp>
          <p:nvSpPr>
            <p:cNvPr id="6" name="TextBox 6"/>
            <p:cNvSpPr txBox="1"/>
            <p:nvPr/>
          </p:nvSpPr>
          <p:spPr>
            <a:xfrm>
              <a:off x="0" y="-57150"/>
              <a:ext cx="2069630" cy="2766483"/>
            </a:xfrm>
            <a:prstGeom prst="rect">
              <a:avLst/>
            </a:prstGeom>
          </p:spPr>
          <p:txBody>
            <a:bodyPr lIns="50800" tIns="50800" rIns="50800" bIns="50800" rtlCol="0" anchor="ctr"/>
            <a:lstStyle/>
            <a:p>
              <a:pPr marL="0" lvl="0" indent="0" algn="ctr">
                <a:lnSpc>
                  <a:spcPts val="3360"/>
                </a:lnSpc>
              </a:pPr>
            </a:p>
          </p:txBody>
        </p:sp>
      </p:grpSp>
      <p:grpSp>
        <p:nvGrpSpPr>
          <p:cNvPr id="7" name="Group 7"/>
          <p:cNvGrpSpPr/>
          <p:nvPr/>
        </p:nvGrpSpPr>
        <p:grpSpPr>
          <a:xfrm rot="0">
            <a:off x="9296400" y="7829550"/>
            <a:ext cx="8324850" cy="907161"/>
            <a:chOff x="0" y="0"/>
            <a:chExt cx="11099800" cy="1209548"/>
          </a:xfrm>
        </p:grpSpPr>
        <p:sp>
          <p:nvSpPr>
            <p:cNvPr id="8" name="TextBox 8"/>
            <p:cNvSpPr txBox="1"/>
            <p:nvPr/>
          </p:nvSpPr>
          <p:spPr>
            <a:xfrm>
              <a:off x="0" y="-9525"/>
              <a:ext cx="11099800" cy="619125"/>
            </a:xfrm>
            <a:prstGeom prst="rect">
              <a:avLst/>
            </a:prstGeom>
          </p:spPr>
          <p:txBody>
            <a:bodyPr lIns="0" tIns="0" rIns="0" bIns="0" rtlCol="0" anchor="t">
              <a:spAutoFit/>
            </a:bodyPr>
            <a:lstStyle/>
            <a:p>
              <a:pPr marL="0" lvl="0" indent="0" algn="l">
                <a:lnSpc>
                  <a:spcPts val="3360"/>
                </a:lnSpc>
                <a:spcBef>
                  <a:spcPct val="0"/>
                </a:spcBef>
              </a:pPr>
              <a:r>
                <a:rPr lang="en-US" sz="2800" b="1" spc="-42">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Importance of Handling Empty Flight Lists</a:t>
              </a:r>
              <a:endParaRPr lang="en-US" sz="2800" b="1" spc="-42">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endParaRPr>
            </a:p>
          </p:txBody>
        </p:sp>
        <p:sp>
          <p:nvSpPr>
            <p:cNvPr id="9" name="TextBox 9"/>
            <p:cNvSpPr txBox="1"/>
            <p:nvPr/>
          </p:nvSpPr>
          <p:spPr>
            <a:xfrm>
              <a:off x="0" y="779653"/>
              <a:ext cx="11099800" cy="429895"/>
            </a:xfrm>
            <a:prstGeom prst="rect">
              <a:avLst/>
            </a:prstGeom>
          </p:spPr>
          <p:txBody>
            <a:bodyPr lIns="0" tIns="0" rIns="0" bIns="0" rtlCol="0" anchor="t">
              <a:spAutoFit/>
            </a:bodyPr>
            <a:lstStyle/>
            <a:p>
              <a:pPr marL="0" lvl="0" indent="0" algn="l">
                <a:lnSpc>
                  <a:spcPts val="2580"/>
                </a:lnSpc>
                <a:spcBef>
                  <a:spcPct val="0"/>
                </a:spcBef>
              </a:pPr>
              <a:r>
                <a:rPr lang="en-US" sz="2000" u="none" strike="noStrike" spc="-3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Ensure users receive clear feedback messages</a:t>
              </a:r>
              <a:endParaRPr lang="en-US" sz="2000" u="none" strike="noStrike" spc="-3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p:txBody>
        </p:sp>
      </p:grpSp>
      <p:sp>
        <p:nvSpPr>
          <p:cNvPr id="10" name="TextBox 10"/>
          <p:cNvSpPr txBox="1"/>
          <p:nvPr/>
        </p:nvSpPr>
        <p:spPr>
          <a:xfrm>
            <a:off x="666750" y="733425"/>
            <a:ext cx="5753100" cy="4492627"/>
          </a:xfrm>
          <a:prstGeom prst="rect">
            <a:avLst/>
          </a:prstGeom>
        </p:spPr>
        <p:txBody>
          <a:bodyPr lIns="0" tIns="0" rIns="0" bIns="0" rtlCol="0" anchor="t">
            <a:spAutoFit/>
          </a:bodyPr>
          <a:lstStyle/>
          <a:p>
            <a:pPr marL="0" lvl="0" indent="0" algn="l">
              <a:lnSpc>
                <a:spcPts val="8800"/>
              </a:lnSpc>
            </a:pPr>
            <a:r>
              <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Viewing All Flights: Handle Empty List</a:t>
            </a:r>
            <a:endPar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endParaRPr>
          </a:p>
        </p:txBody>
      </p:sp>
      <p:sp>
        <p:nvSpPr>
          <p:cNvPr id="11" name="Freeform 11"/>
          <p:cNvSpPr/>
          <p:nvPr/>
        </p:nvSpPr>
        <p:spPr>
          <a:xfrm>
            <a:off x="708153" y="7606302"/>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92A56"/>
        </a:solidFill>
        <a:effectLst/>
      </p:bgPr>
    </p:bg>
    <p:spTree>
      <p:nvGrpSpPr>
        <p:cNvPr id="1" name=""/>
        <p:cNvGrpSpPr/>
        <p:nvPr/>
      </p:nvGrpSpPr>
      <p:grpSpPr>
        <a:xfrm>
          <a:off x="0" y="0"/>
          <a:ext cx="0" cy="0"/>
          <a:chOff x="0" y="0"/>
          <a:chExt cx="0" cy="0"/>
        </a:xfrm>
      </p:grpSpPr>
      <p:grpSp>
        <p:nvGrpSpPr>
          <p:cNvPr id="2" name="Group 2"/>
          <p:cNvGrpSpPr/>
          <p:nvPr/>
        </p:nvGrpSpPr>
        <p:grpSpPr>
          <a:xfrm rot="0">
            <a:off x="0" y="0"/>
            <a:ext cx="7858125" cy="10287000"/>
            <a:chOff x="0" y="0"/>
            <a:chExt cx="1031988" cy="1350966"/>
          </a:xfrm>
        </p:grpSpPr>
        <p:sp>
          <p:nvSpPr>
            <p:cNvPr id="3" name="Freeform 3"/>
            <p:cNvSpPr/>
            <p:nvPr/>
          </p:nvSpPr>
          <p:spPr>
            <a:xfrm>
              <a:off x="0" y="0"/>
              <a:ext cx="1031988" cy="1350966"/>
            </a:xfrm>
            <a:custGeom>
              <a:avLst/>
              <a:gdLst/>
              <a:ahLst/>
              <a:cxnLst/>
              <a:rect l="l" t="t" r="r" b="b"/>
              <a:pathLst>
                <a:path w="1031988" h="1350966">
                  <a:moveTo>
                    <a:pt x="0" y="0"/>
                  </a:moveTo>
                  <a:lnTo>
                    <a:pt x="1031988" y="0"/>
                  </a:lnTo>
                  <a:lnTo>
                    <a:pt x="1031988" y="1350966"/>
                  </a:lnTo>
                  <a:lnTo>
                    <a:pt x="0" y="1350966"/>
                  </a:lnTo>
                  <a:close/>
                </a:path>
              </a:pathLst>
            </a:custGeom>
            <a:solidFill>
              <a:srgbClr val="F5F6FA"/>
            </a:solidFill>
            <a:ln w="12700">
              <a:solidFill>
                <a:srgbClr val="000000"/>
              </a:solidFill>
            </a:ln>
          </p:spPr>
        </p:sp>
      </p:grpSp>
      <p:grpSp>
        <p:nvGrpSpPr>
          <p:cNvPr id="4" name="Group 4"/>
          <p:cNvGrpSpPr/>
          <p:nvPr/>
        </p:nvGrpSpPr>
        <p:grpSpPr>
          <a:xfrm rot="0">
            <a:off x="666750" y="666750"/>
            <a:ext cx="6545058" cy="8953500"/>
            <a:chOff x="0" y="0"/>
            <a:chExt cx="768828" cy="1051741"/>
          </a:xfrm>
        </p:grpSpPr>
        <p:sp>
          <p:nvSpPr>
            <p:cNvPr id="5" name="Freeform 5"/>
            <p:cNvSpPr/>
            <p:nvPr/>
          </p:nvSpPr>
          <p:spPr>
            <a:xfrm>
              <a:off x="0" y="0"/>
              <a:ext cx="768828" cy="1051741"/>
            </a:xfrm>
            <a:custGeom>
              <a:avLst/>
              <a:gdLst/>
              <a:ahLst/>
              <a:cxnLst/>
              <a:rect l="l" t="t" r="r" b="b"/>
              <a:pathLst>
                <a:path w="768828" h="1051741">
                  <a:moveTo>
                    <a:pt x="53229" y="0"/>
                  </a:moveTo>
                  <a:lnTo>
                    <a:pt x="715599" y="0"/>
                  </a:lnTo>
                  <a:cubicBezTo>
                    <a:pt x="729717" y="0"/>
                    <a:pt x="743256" y="5608"/>
                    <a:pt x="753238" y="15590"/>
                  </a:cubicBezTo>
                  <a:cubicBezTo>
                    <a:pt x="763220" y="25573"/>
                    <a:pt x="768828" y="39112"/>
                    <a:pt x="768828" y="53229"/>
                  </a:cubicBezTo>
                  <a:lnTo>
                    <a:pt x="768828" y="998512"/>
                  </a:lnTo>
                  <a:cubicBezTo>
                    <a:pt x="768828" y="1027909"/>
                    <a:pt x="744997" y="1051741"/>
                    <a:pt x="715599" y="1051741"/>
                  </a:cubicBezTo>
                  <a:lnTo>
                    <a:pt x="53229" y="1051741"/>
                  </a:lnTo>
                  <a:cubicBezTo>
                    <a:pt x="39112" y="1051741"/>
                    <a:pt x="25573" y="1046133"/>
                    <a:pt x="15590" y="1036150"/>
                  </a:cubicBezTo>
                  <a:cubicBezTo>
                    <a:pt x="5608" y="1026168"/>
                    <a:pt x="0" y="1012629"/>
                    <a:pt x="0" y="998512"/>
                  </a:cubicBezTo>
                  <a:lnTo>
                    <a:pt x="0" y="53229"/>
                  </a:lnTo>
                  <a:cubicBezTo>
                    <a:pt x="0" y="23831"/>
                    <a:pt x="23831" y="0"/>
                    <a:pt x="53229" y="0"/>
                  </a:cubicBezTo>
                  <a:close/>
                </a:path>
              </a:pathLst>
            </a:custGeom>
            <a:blipFill>
              <a:blip r:embed="rId1"/>
              <a:stretch>
                <a:fillRect t="-414" b="-414"/>
              </a:stretch>
            </a:blipFill>
          </p:spPr>
        </p:sp>
      </p:grpSp>
      <p:sp>
        <p:nvSpPr>
          <p:cNvPr id="6" name="TextBox 6"/>
          <p:cNvSpPr txBox="1"/>
          <p:nvPr/>
        </p:nvSpPr>
        <p:spPr>
          <a:xfrm>
            <a:off x="9296400" y="733425"/>
            <a:ext cx="8324850" cy="2263775"/>
          </a:xfrm>
          <a:prstGeom prst="rect">
            <a:avLst/>
          </a:prstGeom>
        </p:spPr>
        <p:txBody>
          <a:bodyPr lIns="0" tIns="0" rIns="0" bIns="0" rtlCol="0" anchor="t">
            <a:spAutoFit/>
          </a:bodyPr>
          <a:lstStyle/>
          <a:p>
            <a:pPr marL="0" lvl="0" indent="0" algn="l">
              <a:lnSpc>
                <a:spcPts val="8800"/>
              </a:lnSpc>
            </a:pPr>
            <a:r>
              <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Flight Number Search</a:t>
            </a:r>
            <a:endPar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endParaRPr>
          </a:p>
        </p:txBody>
      </p:sp>
      <p:sp>
        <p:nvSpPr>
          <p:cNvPr id="7" name="TextBox 7"/>
          <p:cNvSpPr txBox="1"/>
          <p:nvPr/>
        </p:nvSpPr>
        <p:spPr>
          <a:xfrm>
            <a:off x="9296400" y="7883525"/>
            <a:ext cx="8324850" cy="1736725"/>
          </a:xfrm>
          <a:prstGeom prst="rect">
            <a:avLst/>
          </a:prstGeom>
        </p:spPr>
        <p:txBody>
          <a:bodyPr lIns="0" tIns="0" rIns="0" bIns="0" rtlCol="0" anchor="t">
            <a:spAutoFit/>
          </a:bodyPr>
          <a:lstStyle/>
          <a:p>
            <a:pPr marL="0" lvl="0" indent="0" algn="l">
              <a:lnSpc>
                <a:spcPts val="3500"/>
              </a:lnSpc>
              <a:spcBef>
                <a:spcPct val="0"/>
              </a:spcBef>
            </a:pPr>
            <a:r>
              <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The flight search feature allows users to input a flight number, enabling efficient retrieval of specific flight details. It implements a linear search algorithm, providing immediate feedback on search outcomes.</a:t>
            </a:r>
            <a:endPar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73C75"/>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9</a:t>
            </a:r>
            <a:endParaRPr lang="en-US" sz="200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p:txBody>
      </p:sp>
      <p:grpSp>
        <p:nvGrpSpPr>
          <p:cNvPr id="3" name="Group 3"/>
          <p:cNvGrpSpPr/>
          <p:nvPr/>
        </p:nvGrpSpPr>
        <p:grpSpPr>
          <a:xfrm rot="0">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011942"/>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60"/>
                </a:lnSpc>
                <a:spcBef>
                  <a:spcPct val="0"/>
                </a:spcBef>
              </a:pPr>
            </a:p>
          </p:txBody>
        </p:sp>
      </p:grpSp>
      <p:grpSp>
        <p:nvGrpSpPr>
          <p:cNvPr id="6" name="Group 6"/>
          <p:cNvGrpSpPr/>
          <p:nvPr/>
        </p:nvGrpSpPr>
        <p:grpSpPr>
          <a:xfrm rot="0">
            <a:off x="1800225" y="1562100"/>
            <a:ext cx="12944475" cy="3581400"/>
            <a:chOff x="0" y="0"/>
            <a:chExt cx="17259300" cy="4775200"/>
          </a:xfrm>
        </p:grpSpPr>
        <p:sp>
          <p:nvSpPr>
            <p:cNvPr id="7" name="TextBox 7"/>
            <p:cNvSpPr txBox="1"/>
            <p:nvPr/>
          </p:nvSpPr>
          <p:spPr>
            <a:xfrm>
              <a:off x="0" y="-85725"/>
              <a:ext cx="17259300" cy="1702858"/>
            </a:xfrm>
            <a:prstGeom prst="rect">
              <a:avLst/>
            </a:prstGeom>
          </p:spPr>
          <p:txBody>
            <a:bodyPr lIns="0" tIns="0" rIns="0" bIns="0" rtlCol="0" anchor="t">
              <a:spAutoFit/>
            </a:bodyPr>
            <a:lstStyle/>
            <a:p>
              <a:pPr marL="0" lvl="0" indent="0" algn="l">
                <a:lnSpc>
                  <a:spcPts val="10400"/>
                </a:lnSpc>
              </a:pPr>
              <a:r>
                <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Exit Options and Error Handling</a:t>
              </a:r>
              <a:endPar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endParaRPr>
            </a:p>
          </p:txBody>
        </p:sp>
        <p:sp>
          <p:nvSpPr>
            <p:cNvPr id="8" name="TextBox 8"/>
            <p:cNvSpPr txBox="1"/>
            <p:nvPr/>
          </p:nvSpPr>
          <p:spPr>
            <a:xfrm>
              <a:off x="0" y="2187687"/>
              <a:ext cx="172593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Managing User Choices in the System</a:t>
              </a:r>
              <a:endPar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endParaRPr>
            </a:p>
          </p:txBody>
        </p:sp>
        <p:sp>
          <p:nvSpPr>
            <p:cNvPr id="9" name="TextBox 9"/>
            <p:cNvSpPr txBox="1"/>
            <p:nvPr/>
          </p:nvSpPr>
          <p:spPr>
            <a:xfrm>
              <a:off x="0" y="3059641"/>
              <a:ext cx="13512134" cy="1715559"/>
            </a:xfrm>
            <a:prstGeom prst="rect">
              <a:avLst/>
            </a:prstGeom>
          </p:spPr>
          <p:txBody>
            <a:bodyPr lIns="0" tIns="0" rIns="0" bIns="0" rtlCol="0" anchor="t">
              <a:spAutoFit/>
            </a:bodyPr>
            <a:lstStyle/>
            <a:p>
              <a:pPr marL="0" lvl="0" indent="0" algn="l">
                <a:lnSpc>
                  <a:spcPts val="3500"/>
                </a:lnSpc>
              </a:pP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The program includes a clear exit option, allowing users to terminate the session effectively. Additionally, it handles invalid choices through prompts and guidance, ensuring user-friendly navigation.</a:t>
              </a:r>
              <a:endPar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p:txBody>
        </p:sp>
      </p:grpSp>
      <p:sp>
        <p:nvSpPr>
          <p:cNvPr id="10" name="Freeform 10"/>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1">
              <a:extLst>
                <a:ext uri="{96DAC541-7B7A-43D3-8B79-37D633B846F1}">
                  <asvg:svgBlip xmlns:asvg="http://schemas.microsoft.com/office/drawing/2016/SVG/main" r:embed="rId2"/>
                </a:ext>
              </a:extLst>
            </a:blip>
            <a:stretch>
              <a:fillRect/>
            </a:stretch>
          </a:blipFill>
          <a:ln cap="sq">
            <a:noFill/>
            <a:prstDash val="solid"/>
            <a:miter/>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92A56"/>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10</a:t>
            </a:r>
            <a:endParaRPr lang="en-US" sz="200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p:txBody>
      </p:sp>
      <p:grpSp>
        <p:nvGrpSpPr>
          <p:cNvPr id="3" name="Group 3"/>
          <p:cNvGrpSpPr/>
          <p:nvPr/>
        </p:nvGrpSpPr>
        <p:grpSpPr>
          <a:xfrm rot="0">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42538F"/>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60"/>
                </a:lnSpc>
              </a:pPr>
            </a:p>
          </p:txBody>
        </p:sp>
      </p:grpSp>
      <p:grpSp>
        <p:nvGrpSpPr>
          <p:cNvPr id="6" name="Group 6"/>
          <p:cNvGrpSpPr/>
          <p:nvPr/>
        </p:nvGrpSpPr>
        <p:grpSpPr>
          <a:xfrm rot="0">
            <a:off x="1800225" y="1562100"/>
            <a:ext cx="12944475" cy="3381459"/>
            <a:chOff x="0" y="0"/>
            <a:chExt cx="17259300" cy="4508612"/>
          </a:xfrm>
        </p:grpSpPr>
        <p:sp>
          <p:nvSpPr>
            <p:cNvPr id="7" name="TextBox 7"/>
            <p:cNvSpPr txBox="1"/>
            <p:nvPr/>
          </p:nvSpPr>
          <p:spPr>
            <a:xfrm>
              <a:off x="0" y="-85725"/>
              <a:ext cx="17259300" cy="3455458"/>
            </a:xfrm>
            <a:prstGeom prst="rect">
              <a:avLst/>
            </a:prstGeom>
          </p:spPr>
          <p:txBody>
            <a:bodyPr lIns="0" tIns="0" rIns="0" bIns="0" rtlCol="0" anchor="t">
              <a:spAutoFit/>
            </a:bodyPr>
            <a:lstStyle/>
            <a:p>
              <a:pPr marL="0" lvl="0" indent="0" algn="l">
                <a:lnSpc>
                  <a:spcPts val="10400"/>
                </a:lnSpc>
              </a:pPr>
              <a:r>
                <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Program Flow and Enhancements</a:t>
              </a:r>
              <a:endPar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endParaRPr>
            </a:p>
          </p:txBody>
        </p:sp>
        <p:sp>
          <p:nvSpPr>
            <p:cNvPr id="8" name="TextBox 8"/>
            <p:cNvSpPr txBox="1"/>
            <p:nvPr/>
          </p:nvSpPr>
          <p:spPr>
            <a:xfrm>
              <a:off x="0" y="3940287"/>
              <a:ext cx="172593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Understanding the Menu Loop Dynamics</a:t>
              </a:r>
              <a:endPar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endParaRPr>
            </a:p>
          </p:txBody>
        </p:sp>
      </p:grpSp>
      <p:sp>
        <p:nvSpPr>
          <p:cNvPr id="9" name="Freeform 9"/>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1">
              <a:extLst>
                <a:ext uri="{96DAC541-7B7A-43D3-8B79-37D633B846F1}">
                  <asvg:svgBlip xmlns:asvg="http://schemas.microsoft.com/office/drawing/2016/SVG/main" r:embed="rId2"/>
                </a:ext>
              </a:extLst>
            </a:blip>
            <a:stretch>
              <a:fillRect/>
            </a:stretch>
          </a:blipFill>
          <a:ln cap="sq">
            <a:noFill/>
            <a:prstDash val="solid"/>
            <a:miter/>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73C75"/>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11</a:t>
            </a:r>
            <a:endParaRPr lang="en-US" sz="2000">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p:txBody>
      </p:sp>
      <p:grpSp>
        <p:nvGrpSpPr>
          <p:cNvPr id="3" name="Group 3"/>
          <p:cNvGrpSpPr/>
          <p:nvPr/>
        </p:nvGrpSpPr>
        <p:grpSpPr>
          <a:xfrm rot="0">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011942"/>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60"/>
                </a:lnSpc>
                <a:spcBef>
                  <a:spcPct val="0"/>
                </a:spcBef>
              </a:pPr>
            </a:p>
          </p:txBody>
        </p:sp>
      </p:grpSp>
      <p:grpSp>
        <p:nvGrpSpPr>
          <p:cNvPr id="6" name="Group 6"/>
          <p:cNvGrpSpPr/>
          <p:nvPr/>
        </p:nvGrpSpPr>
        <p:grpSpPr>
          <a:xfrm rot="0">
            <a:off x="1800225" y="1562100"/>
            <a:ext cx="12944475" cy="3619500"/>
            <a:chOff x="0" y="0"/>
            <a:chExt cx="17259300" cy="4826000"/>
          </a:xfrm>
        </p:grpSpPr>
        <p:sp>
          <p:nvSpPr>
            <p:cNvPr id="7" name="TextBox 7"/>
            <p:cNvSpPr txBox="1"/>
            <p:nvPr/>
          </p:nvSpPr>
          <p:spPr>
            <a:xfrm>
              <a:off x="0" y="-85725"/>
              <a:ext cx="17259300" cy="1702858"/>
            </a:xfrm>
            <a:prstGeom prst="rect">
              <a:avLst/>
            </a:prstGeom>
          </p:spPr>
          <p:txBody>
            <a:bodyPr lIns="0" tIns="0" rIns="0" bIns="0" rtlCol="0" anchor="t">
              <a:spAutoFit/>
            </a:bodyPr>
            <a:lstStyle/>
            <a:p>
              <a:pPr marL="0" lvl="0" indent="0" algn="l">
                <a:lnSpc>
                  <a:spcPts val="10400"/>
                </a:lnSpc>
              </a:pPr>
              <a:r>
                <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Limitations and Enhancements</a:t>
              </a:r>
              <a:endParaRPr lang="en-US" sz="8000" spc="-240">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endParaRPr>
            </a:p>
          </p:txBody>
        </p:sp>
        <p:sp>
          <p:nvSpPr>
            <p:cNvPr id="8" name="TextBox 8"/>
            <p:cNvSpPr txBox="1"/>
            <p:nvPr/>
          </p:nvSpPr>
          <p:spPr>
            <a:xfrm>
              <a:off x="0" y="2187687"/>
              <a:ext cx="172593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Addressing Constraints and Future Options</a:t>
              </a:r>
              <a:endPar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endParaRPr>
            </a:p>
          </p:txBody>
        </p:sp>
        <p:sp>
          <p:nvSpPr>
            <p:cNvPr id="9" name="TextBox 9"/>
            <p:cNvSpPr txBox="1"/>
            <p:nvPr/>
          </p:nvSpPr>
          <p:spPr>
            <a:xfrm>
              <a:off x="0" y="3059641"/>
              <a:ext cx="13512134" cy="1766359"/>
            </a:xfrm>
            <a:prstGeom prst="rect">
              <a:avLst/>
            </a:prstGeom>
          </p:spPr>
          <p:txBody>
            <a:bodyPr lIns="0" tIns="0" rIns="0" bIns="0" rtlCol="0" anchor="t">
              <a:spAutoFit/>
            </a:bodyPr>
            <a:lstStyle/>
            <a:p>
              <a:pPr marL="0" lvl="0" indent="0" algn="l">
                <a:lnSpc>
                  <a:spcPts val="3500"/>
                </a:lnSpc>
              </a:pP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The current system's </a:t>
              </a: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fixed array size</a:t>
              </a: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 limits scalability; introducing file I/O for persistent storage and additional features like sorting and a GUI could significantly enhance functionality and user experience.</a:t>
              </a:r>
              <a:endPar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p:txBody>
        </p:sp>
      </p:grpSp>
      <p:sp>
        <p:nvSpPr>
          <p:cNvPr id="10" name="Freeform 10"/>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1">
              <a:extLst>
                <a:ext uri="{96DAC541-7B7A-43D3-8B79-37D633B846F1}">
                  <asvg:svgBlip xmlns:asvg="http://schemas.microsoft.com/office/drawing/2016/SVG/main" r:embed="rId2"/>
                </a:ext>
              </a:extLst>
            </a:blip>
            <a:stretch>
              <a:fillRect/>
            </a:stretch>
          </a:blipFill>
          <a:ln cap="sq">
            <a:noFill/>
            <a:prstDash val="solid"/>
            <a:miter/>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92A56"/>
        </a:solidFill>
        <a:effectLst/>
      </p:bgPr>
    </p:bg>
    <p:spTree>
      <p:nvGrpSpPr>
        <p:cNvPr id="1" name=""/>
        <p:cNvGrpSpPr/>
        <p:nvPr/>
      </p:nvGrpSpPr>
      <p:grpSpPr>
        <a:xfrm>
          <a:off x="0" y="0"/>
          <a:ext cx="0" cy="0"/>
          <a:chOff x="0" y="0"/>
          <a:chExt cx="0" cy="0"/>
        </a:xfrm>
      </p:grpSpPr>
      <p:grpSp>
        <p:nvGrpSpPr>
          <p:cNvPr id="2" name="Group 2"/>
          <p:cNvGrpSpPr/>
          <p:nvPr/>
        </p:nvGrpSpPr>
        <p:grpSpPr>
          <a:xfrm rot="0">
            <a:off x="666750" y="666750"/>
            <a:ext cx="16954500" cy="8953500"/>
            <a:chOff x="0" y="0"/>
            <a:chExt cx="4465383" cy="2358123"/>
          </a:xfrm>
        </p:grpSpPr>
        <p:sp>
          <p:nvSpPr>
            <p:cNvPr id="3" name="Freeform 3"/>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42538F"/>
            </a:solidFill>
            <a:ln cap="rnd">
              <a:noFill/>
              <a:prstDash val="solid"/>
              <a:round/>
            </a:ln>
          </p:spPr>
        </p:sp>
        <p:sp>
          <p:nvSpPr>
            <p:cNvPr id="4" name="TextBox 4"/>
            <p:cNvSpPr txBox="1"/>
            <p:nvPr/>
          </p:nvSpPr>
          <p:spPr>
            <a:xfrm>
              <a:off x="0" y="-57150"/>
              <a:ext cx="4465383" cy="2415273"/>
            </a:xfrm>
            <a:prstGeom prst="rect">
              <a:avLst/>
            </a:prstGeom>
          </p:spPr>
          <p:txBody>
            <a:bodyPr lIns="50800" tIns="50800" rIns="50800" bIns="50800" rtlCol="0" anchor="ctr"/>
            <a:lstStyle/>
            <a:p>
              <a:pPr marL="0" lvl="0" indent="0" algn="ctr">
                <a:lnSpc>
                  <a:spcPts val="3360"/>
                </a:lnSpc>
              </a:pPr>
            </a:p>
          </p:txBody>
        </p:sp>
      </p:grpSp>
      <p:grpSp>
        <p:nvGrpSpPr>
          <p:cNvPr id="5" name="Group 5"/>
          <p:cNvGrpSpPr/>
          <p:nvPr/>
        </p:nvGrpSpPr>
        <p:grpSpPr>
          <a:xfrm rot="0">
            <a:off x="2105025" y="1562100"/>
            <a:ext cx="9763125" cy="6280150"/>
            <a:chOff x="0" y="0"/>
            <a:chExt cx="13017500" cy="8373533"/>
          </a:xfrm>
        </p:grpSpPr>
        <p:sp>
          <p:nvSpPr>
            <p:cNvPr id="6" name="TextBox 6"/>
            <p:cNvSpPr txBox="1"/>
            <p:nvPr/>
          </p:nvSpPr>
          <p:spPr>
            <a:xfrm>
              <a:off x="0" y="1196975"/>
              <a:ext cx="13017500" cy="7176558"/>
            </a:xfrm>
            <a:prstGeom prst="rect">
              <a:avLst/>
            </a:prstGeom>
          </p:spPr>
          <p:txBody>
            <a:bodyPr lIns="0" tIns="0" rIns="0" bIns="0" rtlCol="0" anchor="t">
              <a:spAutoFit/>
            </a:bodyPr>
            <a:lstStyle/>
            <a:p>
              <a:pPr marL="0" lvl="0" indent="0" algn="l">
                <a:lnSpc>
                  <a:spcPts val="3500"/>
                </a:lnSpc>
              </a:pP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The Airplane Management System can be significantly improved with several added features:</a:t>
              </a:r>
              <a:endPar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a:p>
              <a:pPr marL="539750" lvl="1" indent="-269875" algn="l">
                <a:lnSpc>
                  <a:spcPts val="3500"/>
                </a:lnSpc>
                <a:buFont typeface="Arial" panose="020B0604020202020204"/>
                <a:buChar char="•"/>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Sorting Flights</a:t>
              </a: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 Implement functionality to sort flights by departure time or destination for easier viewing.</a:t>
              </a:r>
              <a:endPar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a:p>
              <a:pPr marL="539750" lvl="1" indent="-269875" algn="l">
                <a:lnSpc>
                  <a:spcPts val="3500"/>
                </a:lnSpc>
                <a:buFont typeface="Arial" panose="020B0604020202020204"/>
                <a:buChar char="•"/>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Editing Records</a:t>
              </a: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 Allow users to modify existing flight details, enhancing data accuracy and user interactivity.</a:t>
              </a:r>
              <a:endPar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a:p>
              <a:pPr marL="539750" lvl="1" indent="-269875" algn="l">
                <a:lnSpc>
                  <a:spcPts val="3500"/>
                </a:lnSpc>
                <a:buFont typeface="Arial" panose="020B0604020202020204"/>
                <a:buChar char="•"/>
              </a:pP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Deleting Flights</a:t>
              </a: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 Introduce an option to delete flights, providing flexibility in managing flight data.</a:t>
              </a:r>
              <a:endPar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a:p>
              <a:pPr marL="0" lvl="0" indent="0" algn="l">
                <a:lnSpc>
                  <a:spcPts val="3500"/>
                </a:lnSpc>
              </a:pP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Additionally, developing a </a:t>
              </a:r>
              <a:r>
                <a:rPr lang="en-US" sz="2500" b="1"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Graphical User Interface (GUI)</a:t>
              </a:r>
              <a:r>
                <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 would make the system more user-friendly and visually appealing, facilitating better user interaction and engagement while reinforcing core programming concepts.</a:t>
              </a:r>
              <a:endParaRPr lang="en-US" sz="2500"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p:txBody>
        </p:sp>
        <p:sp>
          <p:nvSpPr>
            <p:cNvPr id="7" name="TextBox 7"/>
            <p:cNvSpPr txBox="1"/>
            <p:nvPr/>
          </p:nvSpPr>
          <p:spPr>
            <a:xfrm>
              <a:off x="0" y="-9525"/>
              <a:ext cx="13017500" cy="669925"/>
            </a:xfrm>
            <a:prstGeom prst="rect">
              <a:avLst/>
            </a:prstGeom>
          </p:spPr>
          <p:txBody>
            <a:bodyPr lIns="0" tIns="0" rIns="0" bIns="0" rtlCol="0" anchor="t">
              <a:spAutoFit/>
            </a:bodyPr>
            <a:lstStyle/>
            <a:p>
              <a:pPr marL="0" lvl="0" indent="0" algn="l">
                <a:lnSpc>
                  <a:spcPts val="3600"/>
                </a:lnSpc>
                <a:spcBef>
                  <a:spcPct val="0"/>
                </a:spcBef>
              </a:pPr>
              <a:r>
                <a:rPr lang="en-US" sz="3000" b="1" spc="-44">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Suggested Enhancements for User Experience</a:t>
              </a:r>
              <a:endParaRPr lang="en-US" sz="3000" b="1" spc="-44">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endParaRPr>
            </a:p>
          </p:txBody>
        </p:sp>
      </p:grpSp>
      <p:sp>
        <p:nvSpPr>
          <p:cNvPr id="8" name="Freeform 8"/>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73C75"/>
        </a:solidFill>
        <a:effectLst/>
      </p:bgPr>
    </p:bg>
    <p:spTree>
      <p:nvGrpSpPr>
        <p:cNvPr id="1" name=""/>
        <p:cNvGrpSpPr/>
        <p:nvPr/>
      </p:nvGrpSpPr>
      <p:grpSpPr>
        <a:xfrm>
          <a:off x="0" y="0"/>
          <a:ext cx="0" cy="0"/>
          <a:chOff x="0" y="0"/>
          <a:chExt cx="0" cy="0"/>
        </a:xfrm>
      </p:grpSpPr>
      <p:grpSp>
        <p:nvGrpSpPr>
          <p:cNvPr id="2" name="Group 2"/>
          <p:cNvGrpSpPr/>
          <p:nvPr/>
        </p:nvGrpSpPr>
        <p:grpSpPr>
          <a:xfrm rot="0">
            <a:off x="9296400" y="0"/>
            <a:ext cx="8991600" cy="3352800"/>
            <a:chOff x="0" y="0"/>
            <a:chExt cx="2368158" cy="883042"/>
          </a:xfrm>
        </p:grpSpPr>
        <p:sp>
          <p:nvSpPr>
            <p:cNvPr id="3" name="Freeform 3"/>
            <p:cNvSpPr/>
            <p:nvPr/>
          </p:nvSpPr>
          <p:spPr>
            <a:xfrm>
              <a:off x="0" y="0"/>
              <a:ext cx="2368158" cy="883042"/>
            </a:xfrm>
            <a:custGeom>
              <a:avLst/>
              <a:gdLst/>
              <a:ahLst/>
              <a:cxnLst/>
              <a:rect l="l" t="t" r="r" b="b"/>
              <a:pathLst>
                <a:path w="2368158" h="883042">
                  <a:moveTo>
                    <a:pt x="0" y="0"/>
                  </a:moveTo>
                  <a:lnTo>
                    <a:pt x="2368158" y="0"/>
                  </a:lnTo>
                  <a:lnTo>
                    <a:pt x="2368158" y="883042"/>
                  </a:lnTo>
                  <a:lnTo>
                    <a:pt x="0" y="883042"/>
                  </a:lnTo>
                  <a:close/>
                </a:path>
              </a:pathLst>
            </a:custGeom>
            <a:solidFill>
              <a:srgbClr val="273C75"/>
            </a:solidFill>
          </p:spPr>
        </p:sp>
        <p:sp>
          <p:nvSpPr>
            <p:cNvPr id="4" name="TextBox 4"/>
            <p:cNvSpPr txBox="1"/>
            <p:nvPr/>
          </p:nvSpPr>
          <p:spPr>
            <a:xfrm>
              <a:off x="0" y="-57150"/>
              <a:ext cx="2368158" cy="940192"/>
            </a:xfrm>
            <a:prstGeom prst="rect">
              <a:avLst/>
            </a:prstGeom>
          </p:spPr>
          <p:txBody>
            <a:bodyPr lIns="50800" tIns="50800" rIns="50800" bIns="50800" rtlCol="0" anchor="ctr"/>
            <a:lstStyle/>
            <a:p>
              <a:pPr marL="0" lvl="0" indent="0" algn="ctr">
                <a:lnSpc>
                  <a:spcPts val="2800"/>
                </a:lnSpc>
              </a:pPr>
            </a:p>
          </p:txBody>
        </p:sp>
      </p:grpSp>
      <p:grpSp>
        <p:nvGrpSpPr>
          <p:cNvPr id="5" name="Group 5"/>
          <p:cNvGrpSpPr/>
          <p:nvPr/>
        </p:nvGrpSpPr>
        <p:grpSpPr>
          <a:xfrm rot="0">
            <a:off x="8991600" y="0"/>
            <a:ext cx="9296400" cy="10287000"/>
            <a:chOff x="0" y="0"/>
            <a:chExt cx="1220873" cy="1350966"/>
          </a:xfrm>
        </p:grpSpPr>
        <p:sp>
          <p:nvSpPr>
            <p:cNvPr id="6" name="Freeform 6"/>
            <p:cNvSpPr/>
            <p:nvPr/>
          </p:nvSpPr>
          <p:spPr>
            <a:xfrm>
              <a:off x="0" y="0"/>
              <a:ext cx="1220873" cy="1350966"/>
            </a:xfrm>
            <a:custGeom>
              <a:avLst/>
              <a:gdLst/>
              <a:ahLst/>
              <a:cxnLst/>
              <a:rect l="l" t="t" r="r" b="b"/>
              <a:pathLst>
                <a:path w="1220873" h="1350966">
                  <a:moveTo>
                    <a:pt x="0" y="0"/>
                  </a:moveTo>
                  <a:lnTo>
                    <a:pt x="1220873" y="0"/>
                  </a:lnTo>
                  <a:lnTo>
                    <a:pt x="1220873" y="1350966"/>
                  </a:lnTo>
                  <a:lnTo>
                    <a:pt x="0" y="1350966"/>
                  </a:lnTo>
                  <a:close/>
                </a:path>
              </a:pathLst>
            </a:custGeom>
            <a:blipFill>
              <a:blip r:embed="rId1"/>
              <a:stretch>
                <a:fillRect t="-66" b="-66"/>
              </a:stretch>
            </a:blipFill>
          </p:spPr>
        </p:sp>
      </p:grpSp>
      <p:sp>
        <p:nvSpPr>
          <p:cNvPr id="7" name="TextBox 7"/>
          <p:cNvSpPr txBox="1"/>
          <p:nvPr/>
        </p:nvSpPr>
        <p:spPr>
          <a:xfrm>
            <a:off x="666750" y="809625"/>
            <a:ext cx="6886575" cy="2079626"/>
          </a:xfrm>
          <a:prstGeom prst="rect">
            <a:avLst/>
          </a:prstGeom>
        </p:spPr>
        <p:txBody>
          <a:bodyPr lIns="0" tIns="0" rIns="0" bIns="0" rtlCol="0" anchor="t">
            <a:spAutoFit/>
          </a:bodyPr>
          <a:lstStyle/>
          <a:p>
            <a:pPr marL="0" lvl="0" indent="0" algn="l">
              <a:lnSpc>
                <a:spcPts val="8000"/>
              </a:lnSpc>
              <a:spcBef>
                <a:spcPct val="0"/>
              </a:spcBef>
            </a:pPr>
            <a:r>
              <a:rPr lang="en-US" sz="8000" u="none" strike="noStrike">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Project Recap and Next Steps</a:t>
            </a:r>
            <a:endParaRPr lang="en-US" sz="8000" u="none" strike="noStrike">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endParaRPr>
          </a:p>
        </p:txBody>
      </p:sp>
      <p:sp>
        <p:nvSpPr>
          <p:cNvPr id="8" name="TextBox 8"/>
          <p:cNvSpPr txBox="1"/>
          <p:nvPr/>
        </p:nvSpPr>
        <p:spPr>
          <a:xfrm>
            <a:off x="666750" y="7369175"/>
            <a:ext cx="6886575" cy="2251075"/>
          </a:xfrm>
          <a:prstGeom prst="rect">
            <a:avLst/>
          </a:prstGeom>
        </p:spPr>
        <p:txBody>
          <a:bodyPr lIns="0" tIns="0" rIns="0" bIns="0" rtlCol="0" anchor="t">
            <a:spAutoFit/>
          </a:bodyPr>
          <a:lstStyle/>
          <a:p>
            <a:pPr marL="0" lvl="0" indent="0" algn="l">
              <a:lnSpc>
                <a:spcPts val="3500"/>
              </a:lnSpc>
            </a:pPr>
            <a:r>
              <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This project highlights </a:t>
            </a:r>
            <a:r>
              <a:rPr lang="en-US" sz="2500" b="1" u="none" strike="noStrike" spc="-37">
                <a:solidFill>
                  <a:srgbClr val="F5F6FA"/>
                </a:solidFill>
                <a:latin typeface="Helvetica World Bold" panose="020B0800040000020004" charset="-122"/>
                <a:ea typeface="Helvetica World Bold" panose="020B0800040000020004" charset="-122"/>
                <a:cs typeface="Helvetica World Bold" panose="020B0800040000020004" charset="-122"/>
                <a:sym typeface="Helvetica World Bold" panose="020B0800040000020004" charset="-122"/>
              </a:rPr>
              <a:t>core programming concepts</a:t>
            </a:r>
            <a:r>
              <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 through a flight management system, emphasizing areas for future growth, such as persistence, user interface, and added functionalities to enhance learning and usability.</a:t>
            </a:r>
            <a:endParaRPr lang="en-US" sz="2500" u="none" strike="noStrike" spc="-3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92A56"/>
        </a:solidFill>
        <a:effectLst/>
      </p:bgPr>
    </p:bg>
    <p:spTree>
      <p:nvGrpSpPr>
        <p:cNvPr id="1" name=""/>
        <p:cNvGrpSpPr/>
        <p:nvPr/>
      </p:nvGrpSpPr>
      <p:grpSpPr>
        <a:xfrm>
          <a:off x="0" y="0"/>
          <a:ext cx="0" cy="0"/>
          <a:chOff x="0" y="0"/>
          <a:chExt cx="0" cy="0"/>
        </a:xfrm>
      </p:grpSpPr>
      <p:grpSp>
        <p:nvGrpSpPr>
          <p:cNvPr id="2" name="Group 2"/>
          <p:cNvGrpSpPr/>
          <p:nvPr/>
        </p:nvGrpSpPr>
        <p:grpSpPr>
          <a:xfrm rot="0">
            <a:off x="0" y="0"/>
            <a:ext cx="7858125" cy="10287000"/>
            <a:chOff x="0" y="0"/>
            <a:chExt cx="1031988" cy="1350966"/>
          </a:xfrm>
        </p:grpSpPr>
        <p:sp>
          <p:nvSpPr>
            <p:cNvPr id="3" name="Freeform 3"/>
            <p:cNvSpPr/>
            <p:nvPr/>
          </p:nvSpPr>
          <p:spPr>
            <a:xfrm>
              <a:off x="0" y="0"/>
              <a:ext cx="1031988" cy="1350966"/>
            </a:xfrm>
            <a:custGeom>
              <a:avLst/>
              <a:gdLst/>
              <a:ahLst/>
              <a:cxnLst/>
              <a:rect l="l" t="t" r="r" b="b"/>
              <a:pathLst>
                <a:path w="1031988" h="1350966">
                  <a:moveTo>
                    <a:pt x="0" y="0"/>
                  </a:moveTo>
                  <a:lnTo>
                    <a:pt x="1031988" y="0"/>
                  </a:lnTo>
                  <a:lnTo>
                    <a:pt x="1031988" y="1350966"/>
                  </a:lnTo>
                  <a:lnTo>
                    <a:pt x="0" y="1350966"/>
                  </a:lnTo>
                  <a:close/>
                </a:path>
              </a:pathLst>
            </a:custGeom>
            <a:solidFill>
              <a:srgbClr val="F5F6FA"/>
            </a:solidFill>
            <a:ln w="12700">
              <a:solidFill>
                <a:srgbClr val="000000"/>
              </a:solidFill>
            </a:ln>
          </p:spPr>
        </p:sp>
      </p:grpSp>
      <p:grpSp>
        <p:nvGrpSpPr>
          <p:cNvPr id="4" name="Group 4"/>
          <p:cNvGrpSpPr/>
          <p:nvPr/>
        </p:nvGrpSpPr>
        <p:grpSpPr>
          <a:xfrm rot="0">
            <a:off x="1052512" y="666750"/>
            <a:ext cx="5753100" cy="8953500"/>
            <a:chOff x="0" y="0"/>
            <a:chExt cx="814724" cy="1267949"/>
          </a:xfrm>
        </p:grpSpPr>
        <p:sp>
          <p:nvSpPr>
            <p:cNvPr id="5" name="Freeform 5"/>
            <p:cNvSpPr/>
            <p:nvPr/>
          </p:nvSpPr>
          <p:spPr>
            <a:xfrm>
              <a:off x="0" y="0"/>
              <a:ext cx="814724" cy="1267949"/>
            </a:xfrm>
            <a:custGeom>
              <a:avLst/>
              <a:gdLst/>
              <a:ahLst/>
              <a:cxnLst/>
              <a:rect l="l" t="t" r="r" b="b"/>
              <a:pathLst>
                <a:path w="814724" h="1267949">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1"/>
              <a:stretch>
                <a:fillRect t="-199" b="-199"/>
              </a:stretch>
            </a:blipFill>
          </p:spPr>
        </p:sp>
      </p:grpSp>
      <p:sp>
        <p:nvSpPr>
          <p:cNvPr id="6" name="TextBox 6"/>
          <p:cNvSpPr txBox="1"/>
          <p:nvPr/>
        </p:nvSpPr>
        <p:spPr>
          <a:xfrm>
            <a:off x="9296400" y="9001760"/>
            <a:ext cx="8324850" cy="618490"/>
          </a:xfrm>
          <a:prstGeom prst="rect">
            <a:avLst/>
          </a:prstGeom>
        </p:spPr>
        <p:txBody>
          <a:bodyPr lIns="0" tIns="0" rIns="0" bIns="0" rtlCol="0" anchor="t">
            <a:spAutoFit/>
          </a:bodyPr>
          <a:lstStyle/>
          <a:p>
            <a:pPr marL="0" lvl="0" indent="0" algn="l">
              <a:lnSpc>
                <a:spcPts val="4940"/>
              </a:lnSpc>
            </a:pPr>
            <a:r>
              <a:rPr lang="en-US" sz="3800" spc="-5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rPr>
              <a:t>Questions and Feedback Welcome</a:t>
            </a:r>
            <a:endParaRPr lang="en-US" sz="3800" spc="-57">
              <a:solidFill>
                <a:srgbClr val="F5F6FA"/>
              </a:solidFill>
              <a:latin typeface="Helvetica World" panose="020B0500040000020004" charset="-122"/>
              <a:ea typeface="Helvetica World" panose="020B0500040000020004" charset="-122"/>
              <a:cs typeface="Helvetica World" panose="020B0500040000020004" charset="-122"/>
              <a:sym typeface="Helvetica World" panose="020B0500040000020004" charset="-122"/>
            </a:endParaRPr>
          </a:p>
        </p:txBody>
      </p:sp>
      <p:sp>
        <p:nvSpPr>
          <p:cNvPr id="7" name="TextBox 7"/>
          <p:cNvSpPr txBox="1"/>
          <p:nvPr/>
        </p:nvSpPr>
        <p:spPr>
          <a:xfrm>
            <a:off x="9303759" y="942975"/>
            <a:ext cx="8317491" cy="1999134"/>
          </a:xfrm>
          <a:prstGeom prst="rect">
            <a:avLst/>
          </a:prstGeom>
        </p:spPr>
        <p:txBody>
          <a:bodyPr lIns="0" tIns="0" rIns="0" bIns="0" rtlCol="0" anchor="t">
            <a:spAutoFit/>
          </a:bodyPr>
          <a:lstStyle/>
          <a:p>
            <a:pPr marL="0" lvl="0" indent="0" algn="l">
              <a:lnSpc>
                <a:spcPts val="14955"/>
              </a:lnSpc>
            </a:pPr>
            <a:r>
              <a:rPr lang="en-US" sz="14955" spc="-523">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rPr>
              <a:t>Thank You</a:t>
            </a:r>
            <a:endParaRPr lang="en-US" sz="14955" spc="-523">
              <a:solidFill>
                <a:srgbClr val="F5F6FA"/>
              </a:solidFill>
              <a:latin typeface="Georgia Pro Condensed" panose="02040506050405020303"/>
              <a:ea typeface="Georgia Pro Condensed" panose="02040506050405020303"/>
              <a:cs typeface="Georgia Pro Condensed" panose="02040506050405020303"/>
              <a:sym typeface="Georgia Pro Condensed" panose="02040506050405020303"/>
            </a:endParaRPr>
          </a:p>
        </p:txBody>
      </p:sp>
      <p:sp>
        <p:nvSpPr>
          <p:cNvPr id="8" name="Freeform 8"/>
          <p:cNvSpPr/>
          <p:nvPr/>
        </p:nvSpPr>
        <p:spPr>
          <a:xfrm rot="-3117037">
            <a:off x="5418783" y="7952721"/>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3895</Words>
  <Application>WPS Presentation</Application>
  <PresentationFormat>On-screen Show (4:3)</PresentationFormat>
  <Paragraphs>96</Paragraphs>
  <Slides>14</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14</vt:i4>
      </vt:variant>
    </vt:vector>
  </HeadingPairs>
  <TitlesOfParts>
    <vt:vector size="26" baseType="lpstr">
      <vt:lpstr>Arial</vt:lpstr>
      <vt:lpstr>SimSun</vt:lpstr>
      <vt:lpstr>Wingdings</vt:lpstr>
      <vt:lpstr>Helvetica World</vt:lpstr>
      <vt:lpstr>Georgia Pro Condensed</vt:lpstr>
      <vt:lpstr>Helvetica World Bold</vt:lpstr>
      <vt:lpstr>Arial</vt:lpstr>
      <vt:lpstr>Microsoft YaHei</vt:lpstr>
      <vt:lpstr>Arial Unicode MS</vt:lpstr>
      <vt:lpstr>Calibri</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Airplane Management System in C</dc:title>
  <dc:creator/>
  <dc:description>Presentation - Airplane Management System in C</dc:description>
  <cp:lastModifiedBy>Malahim Ali</cp:lastModifiedBy>
  <cp:revision>9</cp:revision>
  <dcterms:created xsi:type="dcterms:W3CDTF">2006-08-16T00:00:00Z</dcterms:created>
  <dcterms:modified xsi:type="dcterms:W3CDTF">2025-11-13T18:47:25Z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09C242ED769C4E2B90C874DCC8F7414D_13</vt:lpwstr>
  </property>
  <property fmtid="{D5CDD505-2E9C-101B-9397-08002B2CF9AE}" pid="3" name="KSOProductBuildVer">
    <vt:lpwstr>1033-12.2.0.23155</vt:lpwstr>
  </property>
</Properties>
</file>